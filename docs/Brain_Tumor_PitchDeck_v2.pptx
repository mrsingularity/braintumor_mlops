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0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F6C3D-9FC7-9BF6-6C79-30DD1D0AF784}" v="1" dt="2026-04-22T07:14:02.369"/>
    <p1510:client id="{6619F337-AEA3-9522-460D-5346D72CD6F3}" v="1" dt="2026-04-22T08:38:08.638"/>
    <p1510:client id="{BDD542B6-A432-B245-BAB0-CCFF5ABA8D9D}" v="69" dt="2026-04-21T20:19:20.725"/>
    <p1510:client id="{E771F498-612C-E236-1793-8850EE02012A}" v="10" dt="2026-04-21T19:53:46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3AE49-4989-EA48-BC93-C742C664C5F2}" type="datetimeFigureOut">
              <a:rPr lang="fr-FR" smtClean="0"/>
              <a:t>03/05/2026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DE95C-84C1-9845-99EF-2CEBD6D532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80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82AE3-7471-CC95-79AD-FADD967A7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1E0EB49-0F20-FF3C-8E39-B6BF3D503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0FF616-3E43-6EBB-EC14-10775FCD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3A5C92-7977-C88F-C0EE-08DF172E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9C2555-83A8-13CB-CC1F-CF5C4955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51131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95CDB-BC5B-4CCF-8EBE-38A9A46D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AC27C5-3F56-6AC4-BC81-AD39B8725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615BA2-8ECE-A7B2-6308-F1D8FC80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666596-249E-A479-E6EA-0CC867EC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233DC7-B30C-E78A-A5D7-90DCB1BC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9244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932D38-74BA-6003-A1D4-99A3393D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9954C5-6739-C9E8-D2F7-7AB30D234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F8248F-B92C-DDAC-A47E-B6D4AE71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C5EF6D-2575-0A52-852C-3414E157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6A5E4-E57B-C4E2-BAE5-F103ED75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4472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B600B-9E75-F123-35FD-0CE54A8E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9FDFE-3093-910A-1471-A9F7A3BFF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E118A1-BCAF-DEC7-447A-25AD0F93A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E2D5B5-6884-452C-182D-F39115F1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67A447-4F4E-0E98-04C1-1A5A03C1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70B4A3-9BD0-222A-504B-475D8E8F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92825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D8B261-4C49-C0C9-E9F7-275DE053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14E374-0080-9C66-40CC-B4DD5034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16FFA5-755B-BD54-2C24-3FFAB8BEB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FEAB3EC-1E4F-38BC-0A90-673ED1D59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E0904B-49D8-7E91-10A6-922418740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0D2B65C-EADE-43D6-E2B0-8A608071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63B60B8-40B9-0DC5-6C2F-28020570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6026A9B-DEB0-339F-CD69-2E89CE3F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83871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56F594-AA45-A850-F433-6B46E4C45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9476D5-0287-B44A-0C8E-81B2FB76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ADA93F-217C-0D82-5F03-15565DF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BDE34E-30DB-B0B2-BD64-4CDA80BC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84135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15F3173-1CEE-EDA3-1430-9FC64743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75D5876-FD62-9FFD-DFEA-9612ACC30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AFBE5C-34EC-2D8F-6A63-C41174AD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19561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35396-BDF2-A5D8-7509-108021E98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1336A4-C4AE-6604-C1E3-134A68190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4725C0-CE43-6A14-7D29-BDA5AF876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6D4057-45F5-E65E-12CD-DF78A654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B1D2CD-971A-772A-C1C8-920E4667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2F5B77-33C6-0D8A-6BFB-2CC4AF01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15179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126838-42F1-BAF7-6C60-CA3C49F81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0EB906-9313-A421-5A6C-A69EB0919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739E8B-AB85-DDA0-63C8-9CB07C1B9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98F798-B1E2-E13F-F1C6-80B4911BF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C432F9-859F-9580-B948-5468A93B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C8E34E-811F-346B-1EB8-3E7E6B84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99541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A6DAA6-9928-6C34-03FA-B23DDB98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217433-154C-63C6-5D32-83E84490C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3A5DCD-B24D-3AE6-B554-D2D7CCFD6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FF69C7-1AE0-14F0-3F95-C2296B73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7819CE-05B7-EE13-F9DC-930C3014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1473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C5E88E2-9A57-6A02-35B8-A7AE30B6B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91477E-0566-809B-8250-533362405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85886D-961D-AEB4-5E8D-3D5764FD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0BE47F-464C-B3F0-C8FD-6274494B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C76426-9FEC-B7E1-E454-1E166DA0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4551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54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1C45DD-99CC-51C5-E43E-5FEEB83F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697447-C446-43DB-21F5-0A81E658C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52507D-6A28-4736-3D5D-0CD89AF2C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960BD-7AC1-4217-9611-AAA56D3EE38F}" type="datetime4">
              <a:rPr lang="en-US" smtClean="0"/>
              <a:pPr/>
              <a:t>May 3, 2026</a:t>
            </a:fld>
            <a:endParaRPr lang="en-US">
              <a:latin typeface="+mn-lt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1085C6-93DF-6539-7C97-4030DAC0F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55F5BB-E130-66B7-05AA-3EC7B6E61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EF59-F28E-467C-9EA3-92D1CFAD475A}" type="slidenum">
              <a:rPr lang="en-US" smtClean="0"/>
              <a:pPr/>
              <a:t>‹N°›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907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teuszbuda/lgg-mri-segmenta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18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ri_brai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5240"/>
            <a:ext cx="82700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554480"/>
            <a:ext cx="109728" cy="3017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792785" y="160378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SPRING 2026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 Tumor</a:t>
            </a:r>
            <a:endParaRPr lang="en-US" sz="460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&amp;</a:t>
            </a:r>
            <a:endParaRPr lang="en-US" sz="460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Localization</a:t>
            </a:r>
            <a:endParaRPr lang="en-US" sz="460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MLOps pipeline for MRI brain scans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822960" y="54406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kern="0" spc="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Gillmann  ·  Helena Martínez Río  ·  Nathan Massicot  ·  Jahnavi Patil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277295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DDBA37AD-7C1F-5083-A4F5-729CDFF33D33}"/>
              </a:ext>
            </a:extLst>
          </p:cNvPr>
          <p:cNvSpPr/>
          <p:nvPr/>
        </p:nvSpPr>
        <p:spPr>
          <a:xfrm>
            <a:off x="6644641" y="30480"/>
            <a:ext cx="1097280" cy="6827520"/>
          </a:xfrm>
          <a:prstGeom prst="rect">
            <a:avLst/>
          </a:prstGeom>
          <a:solidFill>
            <a:srgbClr val="0A2540">
              <a:alpha val="80000"/>
            </a:srgbClr>
          </a:solidFill>
          <a:ln w="12700">
            <a:solidFill>
              <a:srgbClr val="0A25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Goal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85800" y="1408176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brain MRI scans is complex, time-consuming, and requires highly trained radiologists. Early and accurate detection of tumors like low-grade gliomas (LGG) is critical for patient outcomes.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Goal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680347" y="3026664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MLOps system that detects and localizes brain tumors in MRI scans .Combining a PyTorch deep-learning model with a reproducible, version-controlled, and deployable pipeline.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187452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6868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tumor / no tumor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2743200" y="4892040"/>
            <a:ext cx="187452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0" y="4892040"/>
            <a:ext cx="73152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92608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Localize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292608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tumor region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800600" y="4892040"/>
            <a:ext cx="187452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00600" y="4892040"/>
            <a:ext cx="73152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8348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98348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access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6949440" y="0"/>
            <a:ext cx="4572000" cy="6035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69494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brain scan  ·  LGG dataset sample</a:t>
            </a:r>
            <a:endParaRPr lang="en-US" sz="100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ADB0DC7-85CB-AAB6-2236-499CCB654AA2}"/>
              </a:ext>
            </a:extLst>
          </p:cNvPr>
          <p:cNvSpPr/>
          <p:nvPr/>
        </p:nvSpPr>
        <p:spPr>
          <a:xfrm>
            <a:off x="616513" y="4523225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1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Way</a:t>
            </a:r>
            <a:endParaRPr lang="en-US" sz="18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AutoShape 2">
            <a:extLst>
              <a:ext uri="{FF2B5EF4-FFF2-40B4-BE49-F238E27FC236}">
                <a16:creationId xmlns:a16="http://schemas.microsoft.com/office/drawing/2014/main" id="{416B1958-B46A-1960-A09A-12005F60D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86B127-8E72-AB3D-62CB-4017A153B958}"/>
              </a:ext>
            </a:extLst>
          </p:cNvPr>
          <p:cNvSpPr/>
          <p:nvPr/>
        </p:nvSpPr>
        <p:spPr>
          <a:xfrm>
            <a:off x="7484882" y="207390"/>
            <a:ext cx="3487918" cy="3459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66905440-8E54-E917-83BB-C10608E4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40" y="330200"/>
            <a:ext cx="3251200" cy="3251200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7F9866B2-C7A9-E413-EDA3-8A334C46047F}"/>
              </a:ext>
            </a:extLst>
          </p:cNvPr>
          <p:cNvSpPr txBox="1"/>
          <p:nvPr/>
        </p:nvSpPr>
        <p:spPr>
          <a:xfrm>
            <a:off x="7040880" y="3969901"/>
            <a:ext cx="42824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u="sng">
                <a:solidFill>
                  <a:schemeClr val="bg1"/>
                </a:solidFill>
              </a:rPr>
              <a:t>TCGA_CS_4941_19960909 — slice 1</a:t>
            </a:r>
            <a:endParaRPr lang="fr-FR" sz="1400" u="sng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1400">
                <a:solidFill>
                  <a:schemeClr val="bg1"/>
                </a:solidFill>
              </a:rPr>
              <a:t>Axial </a:t>
            </a:r>
            <a:r>
              <a:rPr lang="fr-FR" sz="1400" err="1">
                <a:solidFill>
                  <a:schemeClr val="bg1"/>
                </a:solidFill>
              </a:rPr>
              <a:t>brain</a:t>
            </a:r>
            <a:r>
              <a:rPr lang="fr-FR" sz="1400">
                <a:solidFill>
                  <a:schemeClr val="bg1"/>
                </a:solidFill>
              </a:rPr>
              <a:t> MRI slice </a:t>
            </a:r>
            <a:r>
              <a:rPr lang="fr-FR" sz="1400" err="1">
                <a:solidFill>
                  <a:schemeClr val="bg1"/>
                </a:solidFill>
              </a:rPr>
              <a:t>from</a:t>
            </a:r>
            <a:r>
              <a:rPr lang="fr-FR" sz="1400">
                <a:solidFill>
                  <a:schemeClr val="bg1"/>
                </a:solidFill>
              </a:rPr>
              <a:t> the LGG Segmentation </a:t>
            </a:r>
            <a:r>
              <a:rPr lang="fr-FR" sz="1400" err="1">
                <a:solidFill>
                  <a:schemeClr val="bg1"/>
                </a:solidFill>
              </a:rPr>
              <a:t>dataset</a:t>
            </a:r>
            <a:r>
              <a:rPr lang="fr-FR" sz="1400">
                <a:solidFill>
                  <a:schemeClr val="bg1"/>
                </a:solidFill>
              </a:rPr>
              <a:t> (TCIA / TCGA </a:t>
            </a:r>
            <a:r>
              <a:rPr lang="fr-FR" sz="1400" err="1">
                <a:solidFill>
                  <a:schemeClr val="bg1"/>
                </a:solidFill>
              </a:rPr>
              <a:t>lower</a:t>
            </a:r>
            <a:r>
              <a:rPr lang="fr-FR" sz="1400">
                <a:solidFill>
                  <a:schemeClr val="bg1"/>
                </a:solidFill>
              </a:rPr>
              <a:t>-grade </a:t>
            </a:r>
            <a:r>
              <a:rPr lang="fr-FR" sz="1400" err="1">
                <a:solidFill>
                  <a:schemeClr val="bg1"/>
                </a:solidFill>
              </a:rPr>
              <a:t>glioma</a:t>
            </a:r>
            <a:r>
              <a:rPr lang="fr-FR" sz="1400">
                <a:solidFill>
                  <a:schemeClr val="bg1"/>
                </a:solidFill>
              </a:rPr>
              <a:t> collection). Patient TCGA-CS-4941, </a:t>
            </a:r>
            <a:r>
              <a:rPr lang="fr-FR" sz="1400" err="1">
                <a:solidFill>
                  <a:schemeClr val="bg1"/>
                </a:solidFill>
              </a:rPr>
              <a:t>acquired</a:t>
            </a:r>
            <a:r>
              <a:rPr lang="fr-FR" sz="1400">
                <a:solidFill>
                  <a:schemeClr val="bg1"/>
                </a:solidFill>
              </a:rPr>
              <a:t> 1996-09-09.</a:t>
            </a:r>
          </a:p>
          <a:p>
            <a:pPr>
              <a:buNone/>
            </a:pPr>
            <a:endParaRPr lang="fr-FR" sz="140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1400" i="1">
                <a:solidFill>
                  <a:schemeClr val="bg1"/>
                </a:solidFill>
              </a:rPr>
              <a:t>Note: no </a:t>
            </a:r>
            <a:r>
              <a:rPr lang="fr-FR" sz="1400" i="1" err="1">
                <a:solidFill>
                  <a:schemeClr val="bg1"/>
                </a:solidFill>
              </a:rPr>
              <a:t>tumor</a:t>
            </a:r>
            <a:r>
              <a:rPr lang="fr-FR" sz="1400" i="1">
                <a:solidFill>
                  <a:schemeClr val="bg1"/>
                </a:solidFill>
              </a:rPr>
              <a:t> </a:t>
            </a:r>
            <a:r>
              <a:rPr lang="fr-FR" sz="1400" i="1" err="1">
                <a:solidFill>
                  <a:schemeClr val="bg1"/>
                </a:solidFill>
              </a:rPr>
              <a:t>mask</a:t>
            </a:r>
            <a:r>
              <a:rPr lang="fr-FR" sz="1400" i="1">
                <a:solidFill>
                  <a:schemeClr val="bg1"/>
                </a:solidFill>
              </a:rPr>
              <a:t> on </a:t>
            </a:r>
            <a:r>
              <a:rPr lang="fr-FR" sz="1400" i="1" err="1">
                <a:solidFill>
                  <a:schemeClr val="bg1"/>
                </a:solidFill>
              </a:rPr>
              <a:t>this</a:t>
            </a:r>
            <a:r>
              <a:rPr lang="fr-FR" sz="1400" i="1">
                <a:solidFill>
                  <a:schemeClr val="bg1"/>
                </a:solidFill>
              </a:rPr>
              <a:t> slice, the </a:t>
            </a:r>
            <a:r>
              <a:rPr lang="fr-FR" sz="1400" i="1" err="1">
                <a:solidFill>
                  <a:schemeClr val="bg1"/>
                </a:solidFill>
              </a:rPr>
              <a:t>cut</a:t>
            </a:r>
            <a:r>
              <a:rPr lang="fr-FR" sz="1400" i="1">
                <a:solidFill>
                  <a:schemeClr val="bg1"/>
                </a:solidFill>
              </a:rPr>
              <a:t> </a:t>
            </a:r>
            <a:r>
              <a:rPr lang="fr-FR" sz="1400" i="1" err="1">
                <a:solidFill>
                  <a:schemeClr val="bg1"/>
                </a:solidFill>
              </a:rPr>
              <a:t>is</a:t>
            </a:r>
            <a:r>
              <a:rPr lang="fr-FR" sz="1400" i="1">
                <a:solidFill>
                  <a:schemeClr val="bg1"/>
                </a:solidFill>
              </a:rPr>
              <a:t> </a:t>
            </a:r>
            <a:r>
              <a:rPr lang="fr-FR" sz="1400" i="1" err="1">
                <a:solidFill>
                  <a:schemeClr val="bg1"/>
                </a:solidFill>
              </a:rPr>
              <a:t>too</a:t>
            </a:r>
            <a:r>
              <a:rPr lang="fr-FR" sz="1400" i="1">
                <a:solidFill>
                  <a:schemeClr val="bg1"/>
                </a:solidFill>
              </a:rPr>
              <a:t> </a:t>
            </a:r>
            <a:r>
              <a:rPr lang="fr-FR" sz="1400" i="1" err="1">
                <a:solidFill>
                  <a:schemeClr val="bg1"/>
                </a:solidFill>
              </a:rPr>
              <a:t>low</a:t>
            </a:r>
            <a:r>
              <a:rPr lang="fr-FR" sz="1400" i="1">
                <a:solidFill>
                  <a:schemeClr val="bg1"/>
                </a:solidFill>
              </a:rPr>
              <a:t> (</a:t>
            </a:r>
            <a:r>
              <a:rPr lang="fr-FR" sz="1400" i="1" err="1">
                <a:solidFill>
                  <a:schemeClr val="bg1"/>
                </a:solidFill>
              </a:rPr>
              <a:t>mandible</a:t>
            </a:r>
            <a:r>
              <a:rPr lang="fr-FR" sz="1400" i="1">
                <a:solidFill>
                  <a:schemeClr val="bg1"/>
                </a:solidFill>
              </a:rPr>
              <a:t> / sinus </a:t>
            </a:r>
            <a:r>
              <a:rPr lang="fr-FR" sz="1400" i="1" err="1">
                <a:solidFill>
                  <a:schemeClr val="bg1"/>
                </a:solidFill>
              </a:rPr>
              <a:t>level</a:t>
            </a:r>
            <a:r>
              <a:rPr lang="fr-FR" sz="1400" i="1">
                <a:solidFill>
                  <a:schemeClr val="bg1"/>
                </a:solidFill>
              </a:rPr>
              <a:t>), </a:t>
            </a:r>
            <a:r>
              <a:rPr lang="fr-FR" sz="1400" i="1" err="1">
                <a:solidFill>
                  <a:schemeClr val="bg1"/>
                </a:solidFill>
              </a:rPr>
              <a:t>brain</a:t>
            </a:r>
            <a:r>
              <a:rPr lang="fr-FR" sz="1400" i="1">
                <a:solidFill>
                  <a:schemeClr val="bg1"/>
                </a:solidFill>
              </a:rPr>
              <a:t> tissue not </a:t>
            </a:r>
            <a:r>
              <a:rPr lang="fr-FR" sz="1400" i="1" err="1">
                <a:solidFill>
                  <a:schemeClr val="bg1"/>
                </a:solidFill>
              </a:rPr>
              <a:t>yet</a:t>
            </a:r>
            <a:r>
              <a:rPr lang="fr-FR" sz="1400" i="1">
                <a:solidFill>
                  <a:schemeClr val="bg1"/>
                </a:solidFill>
              </a:rPr>
              <a:t> visible.</a:t>
            </a:r>
            <a:endParaRPr lang="fr-FR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LGG MRI Segmentation Dataset</a:t>
            </a:r>
            <a:endParaRPr lang="en-US" sz="22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585216" y="17923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u="sng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Kaggle — mateuszbuda/lgg-mri-segmentation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3154680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110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TCIA LGG collection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069080" y="2331720"/>
            <a:ext cx="3154680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29768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3,929</a:t>
            </a:r>
            <a:endParaRPr lang="en-US" sz="3000"/>
          </a:p>
        </p:txBody>
      </p:sp>
      <p:sp>
        <p:nvSpPr>
          <p:cNvPr id="16" name="Text 14"/>
          <p:cNvSpPr/>
          <p:nvPr/>
        </p:nvSpPr>
        <p:spPr>
          <a:xfrm>
            <a:off x="42976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slices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2976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and post-contrast FLAIR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85800" y="4069080"/>
            <a:ext cx="3154680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FLAIR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masks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91440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annotated ground truth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069080" y="4069080"/>
            <a:ext cx="3154680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29768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.tif</a:t>
            </a:r>
            <a:endParaRPr lang="en-US" sz="3000"/>
          </a:p>
        </p:txBody>
      </p:sp>
      <p:sp>
        <p:nvSpPr>
          <p:cNvPr id="24" name="Text 22"/>
          <p:cNvSpPr/>
          <p:nvPr/>
        </p:nvSpPr>
        <p:spPr>
          <a:xfrm>
            <a:off x="429768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image + mask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29768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channel-wise MRI + segmentation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7662672" y="806182"/>
            <a:ext cx="3721608" cy="4800349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7786838" y="5098802"/>
            <a:ext cx="3396274" cy="50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FLAIR abnormality mask provides pixel-level tumor localization.</a:t>
            </a:r>
            <a:endParaRPr lang="en-US" sz="1000"/>
          </a:p>
        </p:txBody>
      </p:sp>
      <p:pic>
        <p:nvPicPr>
          <p:cNvPr id="1026" name="Picture 2" descr="Tumor representation and basic types of MRI images (Brain) | Download  Scientific Diagram">
            <a:extLst>
              <a:ext uri="{FF2B5EF4-FFF2-40B4-BE49-F238E27FC236}">
                <a16:creationId xmlns:a16="http://schemas.microsoft.com/office/drawing/2014/main" id="{24426738-8418-F540-3BE7-15397A940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128" y="959779"/>
            <a:ext cx="3243904" cy="412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Important to Consider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86010" y="1554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600" b="1" i="1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35204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38658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916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the code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>
          <a:xfrm>
            <a:off x="914400" y="2926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to any working state and collaborate safely across the team.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4389120" y="196596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389120" y="1965960"/>
            <a:ext cx="35204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617720" y="224028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38658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the data</a:t>
            </a:r>
            <a:endParaRPr lang="en-US" sz="1500"/>
          </a:p>
        </p:txBody>
      </p:sp>
      <p:sp>
        <p:nvSpPr>
          <p:cNvPr id="20" name="Text 16"/>
          <p:cNvSpPr/>
          <p:nvPr/>
        </p:nvSpPr>
        <p:spPr>
          <a:xfrm>
            <a:off x="4617720" y="2926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know which dataset version produced which model : reproducible by design.</a:t>
            </a:r>
            <a:endParaRPr lang="en-US" sz="1200"/>
          </a:p>
        </p:txBody>
      </p:sp>
      <p:sp>
        <p:nvSpPr>
          <p:cNvPr id="21" name="Shape 17"/>
          <p:cNvSpPr/>
          <p:nvPr/>
        </p:nvSpPr>
        <p:spPr>
          <a:xfrm>
            <a:off x="8092440" y="196596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8092440" y="1965960"/>
            <a:ext cx="35204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8321040" y="224028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38658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9828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experiments</a:t>
            </a:r>
            <a:endParaRPr lang="en-US" sz="1500"/>
          </a:p>
        </p:txBody>
      </p:sp>
      <p:sp>
        <p:nvSpPr>
          <p:cNvPr id="26" name="Text 21"/>
          <p:cNvSpPr/>
          <p:nvPr/>
        </p:nvSpPr>
        <p:spPr>
          <a:xfrm>
            <a:off x="8321040" y="2926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metrics, losses, and hyperparameters for every run to compare models.</a:t>
            </a:r>
            <a:endParaRPr lang="en-US" sz="1200"/>
          </a:p>
        </p:txBody>
      </p:sp>
      <p:sp>
        <p:nvSpPr>
          <p:cNvPr id="27" name="Shape 22"/>
          <p:cNvSpPr/>
          <p:nvPr/>
        </p:nvSpPr>
        <p:spPr>
          <a:xfrm>
            <a:off x="685800" y="402336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685800" y="4023360"/>
            <a:ext cx="35204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4443984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69164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Register models</a:t>
            </a:r>
            <a:endParaRPr lang="en-US" sz="1500"/>
          </a:p>
        </p:txBody>
      </p:sp>
      <p:sp>
        <p:nvSpPr>
          <p:cNvPr id="32" name="Text 26"/>
          <p:cNvSpPr/>
          <p:nvPr/>
        </p:nvSpPr>
        <p:spPr>
          <a:xfrm>
            <a:off x="91440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model versions and promote from experimental to production-ready.</a:t>
            </a:r>
            <a:endParaRPr lang="en-US" sz="1200"/>
          </a:p>
        </p:txBody>
      </p:sp>
      <p:sp>
        <p:nvSpPr>
          <p:cNvPr id="33" name="Shape 27"/>
          <p:cNvSpPr/>
          <p:nvPr/>
        </p:nvSpPr>
        <p:spPr>
          <a:xfrm>
            <a:off x="4389120" y="402336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4389120" y="4023360"/>
            <a:ext cx="35204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4617720" y="429768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4443984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9496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 predictions</a:t>
            </a:r>
            <a:endParaRPr lang="en-US" sz="1500"/>
          </a:p>
        </p:txBody>
      </p:sp>
      <p:sp>
        <p:nvSpPr>
          <p:cNvPr id="38" name="Text 31"/>
          <p:cNvSpPr/>
          <p:nvPr/>
        </p:nvSpPr>
        <p:spPr>
          <a:xfrm>
            <a:off x="461772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model through a lightweight API so clinicians can query it.</a:t>
            </a:r>
            <a:endParaRPr lang="en-US" sz="1200"/>
          </a:p>
        </p:txBody>
      </p:sp>
      <p:sp>
        <p:nvSpPr>
          <p:cNvPr id="39" name="Shape 32"/>
          <p:cNvSpPr/>
          <p:nvPr/>
        </p:nvSpPr>
        <p:spPr>
          <a:xfrm>
            <a:off x="8092440" y="402336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8092440" y="4023360"/>
            <a:ext cx="35204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4"/>
          <p:cNvSpPr/>
          <p:nvPr/>
        </p:nvSpPr>
        <p:spPr>
          <a:xfrm>
            <a:off x="8321040" y="4297680"/>
            <a:ext cx="640080" cy="64008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4443984"/>
            <a:ext cx="347472" cy="34747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09828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Containerize everything</a:t>
            </a:r>
            <a:endParaRPr lang="en-US" sz="1500"/>
          </a:p>
        </p:txBody>
      </p:sp>
      <p:sp>
        <p:nvSpPr>
          <p:cNvPr id="44" name="Text 36"/>
          <p:cNvSpPr/>
          <p:nvPr/>
        </p:nvSpPr>
        <p:spPr>
          <a:xfrm>
            <a:off x="832104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deploy = identical behavior on any machine.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Components &amp; Tooling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MLOps component mapped to a concrete tool in our pipeline.</a:t>
            </a:r>
            <a:endParaRPr lang="en-US" sz="1400" b="1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85800" y="1737360"/>
          <a:ext cx="10789920" cy="4023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labeled MRI images with segmentation masks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analysis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slices, check class balance, visualize masks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Notebook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Experimentation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CNN ( U-net), track metrics and hyperparameters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+ W&amp;B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repository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code and configs, run CI on push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+ GitHub Actions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pipeline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datasets and orchestrate pipeline stages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DVC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registry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and promote trained models across stages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&amp; Biases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serving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predictions via a lightweight REST API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Docker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These Tools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is tuned for reproducibility, speed, and collaboration.</a:t>
            </a:r>
            <a:endParaRPr lang="en-US" sz="1400" b="1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359359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85800" y="1783080"/>
            <a:ext cx="359359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210312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PyTorch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914400" y="32918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deep-learning framework with pretrained backbones for transfer learning on a small medical dataset.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4389120" y="1783080"/>
            <a:ext cx="359359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389120" y="1783080"/>
            <a:ext cx="359359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210312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Kaggle</a:t>
            </a:r>
            <a:endParaRPr lang="en-US" sz="1600"/>
          </a:p>
        </p:txBody>
      </p:sp>
      <p:sp>
        <p:nvSpPr>
          <p:cNvPr id="18" name="Text 14"/>
          <p:cNvSpPr/>
          <p:nvPr/>
        </p:nvSpPr>
        <p:spPr>
          <a:xfrm>
            <a:off x="4617720" y="32918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curated LGG MRI dataset with pixel-level masks — ideal benchmark for segmentation.</a:t>
            </a:r>
            <a:endParaRPr lang="en-US" sz="1150"/>
          </a:p>
        </p:txBody>
      </p:sp>
      <p:sp>
        <p:nvSpPr>
          <p:cNvPr id="19" name="Shape 15"/>
          <p:cNvSpPr/>
          <p:nvPr/>
        </p:nvSpPr>
        <p:spPr>
          <a:xfrm>
            <a:off x="8092440" y="1783080"/>
            <a:ext cx="359359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092440" y="1783080"/>
            <a:ext cx="359359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6" y="210312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5320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Weights &amp; Biases</a:t>
            </a:r>
            <a:endParaRPr lang="en-US" sz="1600"/>
          </a:p>
        </p:txBody>
      </p:sp>
      <p:sp>
        <p:nvSpPr>
          <p:cNvPr id="23" name="Text 18"/>
          <p:cNvSpPr/>
          <p:nvPr/>
        </p:nvSpPr>
        <p:spPr>
          <a:xfrm>
            <a:off x="8321040" y="32918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experiment tracking, hyperparameter sweeps, and a built-in model registry.</a:t>
            </a:r>
            <a:endParaRPr lang="en-US" sz="1150"/>
          </a:p>
        </p:txBody>
      </p:sp>
      <p:sp>
        <p:nvSpPr>
          <p:cNvPr id="24" name="Shape 19"/>
          <p:cNvSpPr/>
          <p:nvPr/>
        </p:nvSpPr>
        <p:spPr>
          <a:xfrm>
            <a:off x="685800" y="4114800"/>
            <a:ext cx="359359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685800" y="4114800"/>
            <a:ext cx="359359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556" y="443484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8680" y="52120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DVC</a:t>
            </a:r>
            <a:endParaRPr lang="en-US" sz="1600"/>
          </a:p>
        </p:txBody>
      </p:sp>
      <p:sp>
        <p:nvSpPr>
          <p:cNvPr id="28" name="Text 22"/>
          <p:cNvSpPr/>
          <p:nvPr/>
        </p:nvSpPr>
        <p:spPr>
          <a:xfrm>
            <a:off x="914400" y="562356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Git-like versioning for large MRI data; reproducible pipelines tied to each commit.</a:t>
            </a:r>
            <a:endParaRPr lang="en-US" sz="1150"/>
          </a:p>
        </p:txBody>
      </p:sp>
      <p:sp>
        <p:nvSpPr>
          <p:cNvPr id="29" name="Shape 23"/>
          <p:cNvSpPr/>
          <p:nvPr/>
        </p:nvSpPr>
        <p:spPr>
          <a:xfrm>
            <a:off x="4389120" y="4114800"/>
            <a:ext cx="359359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4389120" y="4114800"/>
            <a:ext cx="359359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256" y="4434840"/>
            <a:ext cx="640080" cy="640080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434840"/>
            <a:ext cx="640080" cy="6400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72000" y="52120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+ Actions</a:t>
            </a:r>
            <a:endParaRPr lang="en-US" sz="1600"/>
          </a:p>
        </p:txBody>
      </p:sp>
      <p:sp>
        <p:nvSpPr>
          <p:cNvPr id="34" name="Text 26"/>
          <p:cNvSpPr/>
          <p:nvPr/>
        </p:nvSpPr>
        <p:spPr>
          <a:xfrm>
            <a:off x="4617720" y="562356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hosting, collaboration, and CI/CD — tests and model sanity checks run on every push.</a:t>
            </a:r>
            <a:endParaRPr lang="en-US" sz="1150"/>
          </a:p>
        </p:txBody>
      </p:sp>
      <p:sp>
        <p:nvSpPr>
          <p:cNvPr id="35" name="Shape 27"/>
          <p:cNvSpPr/>
          <p:nvPr/>
        </p:nvSpPr>
        <p:spPr>
          <a:xfrm>
            <a:off x="8092440" y="4114800"/>
            <a:ext cx="359359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28"/>
          <p:cNvSpPr/>
          <p:nvPr/>
        </p:nvSpPr>
        <p:spPr>
          <a:xfrm>
            <a:off x="8092440" y="4114800"/>
            <a:ext cx="359359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0576" y="4434840"/>
            <a:ext cx="640080" cy="640080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7816" y="4434840"/>
            <a:ext cx="640080" cy="6400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275320" y="52120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+ Docker</a:t>
            </a:r>
            <a:endParaRPr lang="en-US" sz="1600"/>
          </a:p>
        </p:txBody>
      </p:sp>
      <p:sp>
        <p:nvSpPr>
          <p:cNvPr id="40" name="Text 30"/>
          <p:cNvSpPr/>
          <p:nvPr/>
        </p:nvSpPr>
        <p:spPr>
          <a:xfrm>
            <a:off x="8321040" y="562356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API, shipped in a container — same behavior from a laptop to the cloud.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Architecture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MRI scans to a containerized inference API.</a:t>
            </a:r>
            <a:endParaRPr lang="en-US" sz="1400" b="1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2377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blurRad="76200" dist="12700" dir="5400000" algn="bl" rotWithShape="0">
              <a:srgbClr val="0A25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22960" y="1874520"/>
            <a:ext cx="23774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6868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</a:t>
            </a:r>
            <a:endParaRPr lang="en-US" sz="100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2331720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000"/>
          </a:p>
        </p:txBody>
      </p:sp>
      <p:sp>
        <p:nvSpPr>
          <p:cNvPr id="14" name="Shape 11"/>
          <p:cNvSpPr/>
          <p:nvPr/>
        </p:nvSpPr>
        <p:spPr>
          <a:xfrm>
            <a:off x="3611880" y="1874520"/>
            <a:ext cx="2377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blurRad="76200" dist="12700" dir="5400000" algn="bl" rotWithShape="0">
              <a:srgbClr val="0A25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611880" y="1874520"/>
            <a:ext cx="23774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65760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100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331720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0332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00"/>
          </a:p>
        </p:txBody>
      </p:sp>
      <p:sp>
        <p:nvSpPr>
          <p:cNvPr id="19" name="Shape 15"/>
          <p:cNvSpPr/>
          <p:nvPr/>
        </p:nvSpPr>
        <p:spPr>
          <a:xfrm>
            <a:off x="6400800" y="1874520"/>
            <a:ext cx="2377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blurRad="76200" dist="12700" dir="5400000" algn="bl" rotWithShape="0">
              <a:srgbClr val="0A25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400800" y="1874520"/>
            <a:ext cx="23774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44652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EXPERIMENTATION</a:t>
            </a:r>
            <a:endParaRPr lang="en-US" sz="10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28" y="2331720"/>
            <a:ext cx="438912" cy="438912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2331720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9224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W&amp;B</a:t>
            </a:r>
            <a:endParaRPr lang="en-US" sz="1000"/>
          </a:p>
        </p:txBody>
      </p:sp>
      <p:sp>
        <p:nvSpPr>
          <p:cNvPr id="25" name="Shape 19"/>
          <p:cNvSpPr/>
          <p:nvPr/>
        </p:nvSpPr>
        <p:spPr>
          <a:xfrm>
            <a:off x="822960" y="3703320"/>
            <a:ext cx="2377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blurRad="76200" dist="12700" dir="5400000" algn="bl" rotWithShape="0">
              <a:srgbClr val="0A25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822960" y="3703320"/>
            <a:ext cx="23774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86868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REPOSITORY</a:t>
            </a:r>
            <a:endParaRPr lang="en-US" sz="100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2224" y="4160520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4400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Actions</a:t>
            </a:r>
            <a:endParaRPr lang="en-US" sz="1000"/>
          </a:p>
        </p:txBody>
      </p:sp>
      <p:sp>
        <p:nvSpPr>
          <p:cNvPr id="30" name="Shape 23"/>
          <p:cNvSpPr/>
          <p:nvPr/>
        </p:nvSpPr>
        <p:spPr>
          <a:xfrm>
            <a:off x="3611880" y="3703320"/>
            <a:ext cx="2377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blurRad="76200" dist="12700" dir="5400000" algn="bl" rotWithShape="0">
              <a:srgbClr val="0A25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3611880" y="3703320"/>
            <a:ext cx="23774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5"/>
          <p:cNvSpPr/>
          <p:nvPr/>
        </p:nvSpPr>
        <p:spPr>
          <a:xfrm>
            <a:off x="365760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PIPELINE</a:t>
            </a:r>
            <a:endParaRPr lang="en-US" sz="100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4160520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703320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1000"/>
          </a:p>
        </p:txBody>
      </p:sp>
      <p:sp>
        <p:nvSpPr>
          <p:cNvPr id="35" name="Shape 27"/>
          <p:cNvSpPr/>
          <p:nvPr/>
        </p:nvSpPr>
        <p:spPr>
          <a:xfrm>
            <a:off x="6400800" y="3703320"/>
            <a:ext cx="2377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blurRad="76200" dist="12700" dir="5400000" algn="bl" rotWithShape="0">
              <a:srgbClr val="0A25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28"/>
          <p:cNvSpPr/>
          <p:nvPr/>
        </p:nvSpPr>
        <p:spPr>
          <a:xfrm>
            <a:off x="6400800" y="3703320"/>
            <a:ext cx="23774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29"/>
          <p:cNvSpPr/>
          <p:nvPr/>
        </p:nvSpPr>
        <p:spPr>
          <a:xfrm>
            <a:off x="644652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REGISTRY</a:t>
            </a:r>
            <a:endParaRPr lang="en-US" sz="100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4160520"/>
            <a:ext cx="438912" cy="4389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92240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000"/>
          </a:p>
        </p:txBody>
      </p:sp>
      <p:sp>
        <p:nvSpPr>
          <p:cNvPr id="40" name="Shape 31"/>
          <p:cNvSpPr/>
          <p:nvPr/>
        </p:nvSpPr>
        <p:spPr>
          <a:xfrm>
            <a:off x="9189720" y="3703320"/>
            <a:ext cx="2377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blurRad="76200" dist="12700" dir="5400000" algn="bl" rotWithShape="0">
              <a:srgbClr val="0A254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2"/>
          <p:cNvSpPr/>
          <p:nvPr/>
        </p:nvSpPr>
        <p:spPr>
          <a:xfrm>
            <a:off x="9189720" y="3703320"/>
            <a:ext cx="2377440" cy="2926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3"/>
          <p:cNvSpPr/>
          <p:nvPr/>
        </p:nvSpPr>
        <p:spPr>
          <a:xfrm>
            <a:off x="923544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SERVING</a:t>
            </a:r>
            <a:endParaRPr lang="en-US" sz="100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0948" y="4160520"/>
            <a:ext cx="438912" cy="438912"/>
          </a:xfrm>
          <a:prstGeom prst="rect">
            <a:avLst/>
          </a:prstGeom>
        </p:spPr>
      </p:pic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7020" y="4160520"/>
            <a:ext cx="438912" cy="43891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281160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Docker</a:t>
            </a:r>
            <a:endParaRPr lang="en-US" sz="1000"/>
          </a:p>
        </p:txBody>
      </p:sp>
      <p:sp>
        <p:nvSpPr>
          <p:cNvPr id="46" name="Shape 35"/>
          <p:cNvSpPr/>
          <p:nvPr/>
        </p:nvSpPr>
        <p:spPr>
          <a:xfrm>
            <a:off x="3200400" y="2491740"/>
            <a:ext cx="41148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36"/>
          <p:cNvSpPr/>
          <p:nvPr/>
        </p:nvSpPr>
        <p:spPr>
          <a:xfrm>
            <a:off x="5989320" y="2491740"/>
            <a:ext cx="41148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37"/>
          <p:cNvSpPr/>
          <p:nvPr/>
        </p:nvSpPr>
        <p:spPr>
          <a:xfrm>
            <a:off x="7589520" y="3108960"/>
            <a:ext cx="0" cy="29718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38"/>
          <p:cNvSpPr/>
          <p:nvPr/>
        </p:nvSpPr>
        <p:spPr>
          <a:xfrm>
            <a:off x="2011680" y="3406140"/>
            <a:ext cx="557784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39"/>
          <p:cNvSpPr/>
          <p:nvPr/>
        </p:nvSpPr>
        <p:spPr>
          <a:xfrm>
            <a:off x="2011680" y="3406140"/>
            <a:ext cx="0" cy="29718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0"/>
          <p:cNvSpPr/>
          <p:nvPr/>
        </p:nvSpPr>
        <p:spPr>
          <a:xfrm>
            <a:off x="3200400" y="4320540"/>
            <a:ext cx="41148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41"/>
          <p:cNvSpPr/>
          <p:nvPr/>
        </p:nvSpPr>
        <p:spPr>
          <a:xfrm>
            <a:off x="5989320" y="4320540"/>
            <a:ext cx="41148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42"/>
          <p:cNvSpPr/>
          <p:nvPr/>
        </p:nvSpPr>
        <p:spPr>
          <a:xfrm>
            <a:off x="8778240" y="4320540"/>
            <a:ext cx="41148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43"/>
          <p:cNvSpPr/>
          <p:nvPr/>
        </p:nvSpPr>
        <p:spPr>
          <a:xfrm>
            <a:off x="685800" y="5669280"/>
            <a:ext cx="107899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44"/>
          <p:cNvSpPr/>
          <p:nvPr/>
        </p:nvSpPr>
        <p:spPr>
          <a:xfrm>
            <a:off x="685800" y="566928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45"/>
          <p:cNvSpPr/>
          <p:nvPr/>
        </p:nvSpPr>
        <p:spPr>
          <a:xfrm>
            <a:off x="914400" y="57607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result: </a:t>
            </a: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FastAPI service that ingests a brain MRI, returns a tumor classification and a pixel-level mask — with every prediction traceable back to a versioned model, dataset, and commit.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 Detection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drift signals we monitor in production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593592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359359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Drift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distribution shifts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31363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MRIs differ statistically from training data — different scanner, new acquisition protocol, another hospital.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pixel-stat distributions, KS / PSI tests on image features.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828800"/>
            <a:ext cx="3593592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3593592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17720" y="192024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4688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Drift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17720" y="29260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↔ output relationship changes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383280"/>
            <a:ext cx="31363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617720" y="3520440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proportion of tumor / no-tumor predictions drifts over time, suggesting the underlying clinical population is changing.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521208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track prediction class ratios and confidence distributions.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2440" y="1828800"/>
            <a:ext cx="3593592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8092440" y="1828800"/>
            <a:ext cx="359359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321040" y="192024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24688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Drift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21040" y="29260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decays over time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3383280"/>
            <a:ext cx="313639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321040" y="3520440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precision drops on real cases — requires labels back from the field, i.e. radiologist feedback on flagged scans.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521208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sampled audits, Dice / IoU vs. radiologist mask.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Monitoring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logged on every single inference 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85800" y="1783080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14400" y="1947672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075688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19019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2128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response time per request — alert on spikes that signal scaling or GPU issues.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" y="2724912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685800" y="2724912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914400" y="2889504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01752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00200" y="28437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score</a:t>
            </a: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softmax max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600200" y="31546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max-softmax across predictions — collapsing confidence flags drift.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5800" y="3666744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85800" y="3666744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914400" y="3831336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3959352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378561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 &amp; resolution</a:t>
            </a: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px × px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600200" y="40965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or flag inputs that fall outside the training resolution envelope.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85800" y="4608576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685800" y="4608576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914400" y="4773168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901184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600200" y="47274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statistics</a:t>
            </a: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mean / std / hist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600200" y="503834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distribution stats; baseline against the training set with PSI / KS tests.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85800" y="5550408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685800" y="5550408"/>
            <a:ext cx="73152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914400" y="5715000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5843016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600200" y="5669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class + mask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1600200" y="598017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input hash and model version for full lineage and audit trail.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726680" y="1783080"/>
            <a:ext cx="3794760" cy="4434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7726680" y="1783080"/>
            <a:ext cx="3794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4"/>
          <p:cNvSpPr/>
          <p:nvPr/>
        </p:nvSpPr>
        <p:spPr>
          <a:xfrm>
            <a:off x="800100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they go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8001000" y="25146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emits a structured log line streamed to W&amp;B + a time-series store. Dashboards visualize each metric over rolling windows; alerts fire when statistical tests flag drift.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8001000" y="4251960"/>
            <a:ext cx="3246120" cy="0"/>
          </a:xfrm>
          <a:prstGeom prst="line">
            <a:avLst/>
          </a:prstGeom>
          <a:noFill/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800100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Tied back to the registry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8001000" y="48006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 carries the model version + dataset commit (DVC). Any anomaly is traceable back to the exact training run that produced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" y="5029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05840" y="30175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Retraining Loop  ·  Level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 ·  Brain Tumor Detection &amp; Localization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training with mandatory human-in-the-loop validation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A254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417320" y="1993392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41732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signals + metrics in production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2674620"/>
            <a:ext cx="164592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953512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A254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85032" y="1993392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8503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495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90672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crossed → CT pipeline launched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56632" y="2674620"/>
            <a:ext cx="164592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221224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A254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952744" y="1993392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952744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12664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58384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pulls new data, PyTorch retrains, W&amp;B logs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24344" y="2674620"/>
            <a:ext cx="164592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488936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A254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8220456" y="1993392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220456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80376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26096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tests + side-by-side metrics vs. champion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592056" y="2674620"/>
            <a:ext cx="164592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9756648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A254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0488168" y="1993392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0488168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848088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Validation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893808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+ clinical lead approve promotion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4023360"/>
            <a:ext cx="10817352" cy="2286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85800" y="4023360"/>
            <a:ext cx="109728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097280" y="425196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 human always closes the loop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97280" y="48006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medical context, a new model is never auto-promoted. Even when every automated metric is green, the final promotion to production requires sign-off from a radiologist and the clinical team — the failure mode of a missed tumor is not the same as a missed ad click.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69480" y="4892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REGULATORY CONTEXT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69480" y="5257800"/>
            <a:ext cx="1874520" cy="411480"/>
          </a:xfrm>
          <a:prstGeom prst="rect">
            <a:avLst/>
          </a:prstGeom>
          <a:solidFill>
            <a:srgbClr val="071A3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269480" y="5257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marking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281160" y="5257800"/>
            <a:ext cx="1874520" cy="411480"/>
          </a:xfrm>
          <a:prstGeom prst="rect">
            <a:avLst/>
          </a:prstGeom>
          <a:solidFill>
            <a:srgbClr val="071A3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9281160" y="5257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clearance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269480" y="5760720"/>
            <a:ext cx="1874520" cy="411480"/>
          </a:xfrm>
          <a:prstGeom prst="rect">
            <a:avLst/>
          </a:prstGeom>
          <a:solidFill>
            <a:srgbClr val="071A3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7269480" y="5760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MDR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81160" y="5760720"/>
            <a:ext cx="1874520" cy="411480"/>
          </a:xfrm>
          <a:prstGeom prst="rect">
            <a:avLst/>
          </a:prstGeom>
          <a:solidFill>
            <a:srgbClr val="071A30"/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9281160" y="5760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1149</Words>
  <Application>Microsoft Macintosh PowerPoint</Application>
  <PresentationFormat>Grand écran</PresentationFormat>
  <Paragraphs>194</Paragraphs>
  <Slides>10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Massicot Nathan</dc:creator>
  <cp:lastModifiedBy>Massicot Nathan</cp:lastModifiedBy>
  <cp:revision>4</cp:revision>
  <dcterms:created xsi:type="dcterms:W3CDTF">2026-04-16T09:47:34Z</dcterms:created>
  <dcterms:modified xsi:type="dcterms:W3CDTF">2026-05-03T12:51:44Z</dcterms:modified>
</cp:coreProperties>
</file>